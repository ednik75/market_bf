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91695" cy="822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Market BF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BBF7D0"/>
                </a:solidFill>
                <a:latin typeface="Calibri"/>
              </a:rPr>
              <a:t>Marketplace locale et gestion commerciale pour les commerces du Burkina Faso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0B429"/>
                </a:solidFill>
                <a:latin typeface="Calibri"/>
              </a:rPr>
              <a:t>SOUTENANCE DE PROJET — 10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Application web full-stack  •  Node.js / Express  •  React  •  SQLite (Turso)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En production : https://marketbf.onrender.com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BF7D0"/>
                </a:solidFill>
                <a:latin typeface="Calibri"/>
              </a:rPr>
              <a:t>Présenté par NITIEMA Martial  •  [Nom du binôme] —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Plan — 10 minutes à deux voix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E3D20"/>
                </a:solidFill>
              </a:rPr>
              <a:t>Partie 1 — Intervenant 1   (≈ 5 min)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1.  Contexte et problématique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2.  Market BF en bref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3.  Les trois espaces : client, commerçant, admin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4.  Le parcours d'une commande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5.  Paiements adaptés au contexte 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66534"/>
                </a:solidFill>
              </a:rPr>
              <a:t>Partie 2 — Intervenant 2   (≈ 5 min)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6.  Stack technique et architecture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7.  Sécurité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8.  Déploiement en production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9.  Démonstration en direct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74151"/>
                </a:solidFill>
              </a:rPr>
              <a:t>10.  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1 •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E3D20"/>
                </a:solidFill>
              </a:rPr>
              <a:t>Le constat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Au Burkina Faso, les commerces de proximité gèrent stocks, ventes et commandes sans outil numérique.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Les clients se déplacent de boutique en boutique, sans visibilité sur la disponibilité des produits ni sur les prix.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66534"/>
                </a:solidFill>
              </a:rPr>
              <a:t>La réponse : Market BF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Une plateforme unique qui digitalise la gestion des commerçants (stock, commandes, statistiques)…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…et offre aux clients une marketplace géolocalisée avec les moyens de paiement locaux.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11185855" cy="1737360"/>
          </a:xfrm>
          <a:prstGeom prst="rect">
            <a:avLst/>
          </a:prstGeom>
          <a:solidFill>
            <a:srgbClr val="0E3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B429"/>
                </a:solidFill>
                <a:latin typeface="Calibri"/>
              </a:rPr>
              <a:t>Le projet en chiffres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≈ 7 000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BF7D0"/>
                </a:solidFill>
                <a:latin typeface="Calibri"/>
              </a:rPr>
              <a:t>lignes 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4846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53492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BF7D0"/>
                </a:solidFill>
                <a:latin typeface="Calibri"/>
              </a:rPr>
              <a:t>modules d'API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4846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53492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BF7D0"/>
                </a:solidFill>
                <a:latin typeface="Calibri"/>
              </a:rPr>
              <a:t>pages d'interface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4846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53492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BF7D0"/>
                </a:solidFill>
                <a:latin typeface="Calibri"/>
              </a:rPr>
              <a:t>rôles utilisateurs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4846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3492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BF7D0"/>
                </a:solidFill>
                <a:latin typeface="Calibri"/>
              </a:rPr>
              <a:t>tables de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846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En ligne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53492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BF7D0"/>
                </a:solidFill>
                <a:latin typeface="Calibri"/>
              </a:rPr>
              <a:t>sur Render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1 • FONCTIONNEL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Trois acteurs, trois espaces dédiés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E3D20"/>
                </a:solidFill>
              </a:rPr>
              <a:t>Client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Catalogue et recherche par nom / catégorie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Carte interactive des boutiques (Leaflet)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Disponibilité des produits en temps réel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Panier et commande en ligne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Paiement : Orange Money, Moov, Wave, à la livraison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Reçu et confirmation par e-mail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Historique et suivi des commandes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Avis et notation des boutiques (1 à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66534"/>
                </a:solidFill>
              </a:rPr>
              <a:t>Commerçant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Création et profil de boutique géolocalisée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Gestion des produits avec photos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Gestion du stock : quantités et seuils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Alertes de stock faible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Mouvements d'entrée / sortie tracés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Traitement des commandes par statut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Statistiques : CA, volumes, top produits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Graphiques interactifs (Recharts)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8308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</a:rPr>
              <a:t>Administrateur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Validation ou rejet des boutiques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Workflow pending / active / rejected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Gestion des utilisateurs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Statistiques globales de la plateforme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Garant de la qualité et de la sécurité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1 • FONCTIONNEL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Le parcours d'une commande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1201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3D20"/>
                </a:solidFill>
                <a:latin typeface="Calibri"/>
              </a:rPr>
              <a:t>1. 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6596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Le client remplit son panier et choisit son mode de paiement — il reçoit un reçu par e-mail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24328"/>
            <a:ext cx="11201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3D20"/>
                </a:solidFill>
                <a:latin typeface="Calibri"/>
              </a:rPr>
              <a:t>2.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0720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Le stock est décrémenté automatiquement, de façon transactionnelle : pas de survente 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65576"/>
            <a:ext cx="11201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3016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3D20"/>
                </a:solidFill>
                <a:latin typeface="Calibri"/>
              </a:rPr>
              <a:t>3. Traitement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4845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Le commerçant voit la commande arriver et la confirme depuis son tableau de bord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06824"/>
            <a:ext cx="11201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7141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3D20"/>
                </a:solidFill>
                <a:latin typeface="Calibri"/>
              </a:rPr>
              <a:t>4. Livraison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489704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Statut « livrée » : paiement complété, e-mail de confirmation envoyé au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48072"/>
            <a:ext cx="11201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1266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3D20"/>
                </a:solidFill>
                <a:latin typeface="Calibri"/>
              </a:rPr>
              <a:t>5. Avis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3309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Le client peut noter la boutique et laisser un commentaire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201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En cas d'annulation, le stock est automatiquement restitué.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1 • FONCTIONNEL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Des paiements adaptés au contexte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6534"/>
                </a:solidFill>
              </a:rPr>
              <a:t>4 méthodes proposées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374151"/>
                </a:solidFill>
              </a:rPr>
              <a:t>Orange Money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374151"/>
                </a:solidFill>
              </a:rPr>
              <a:t>Moov Money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374151"/>
                </a:solidFill>
              </a:rPr>
              <a:t>Wave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374151"/>
                </a:solidFill>
              </a:rPr>
              <a:t>Paiement à la livraison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Suivi complet des transactions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74151"/>
                </a:solidFill>
              </a:rPr>
              <a:t>Chaque commande génère un enregistrement de paiement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74151"/>
                </a:solidFill>
              </a:rPr>
              <a:t>Méthode, montant et statut conservés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74151"/>
                </a:solidFill>
              </a:rPr>
              <a:t>Statuts contrôlés : pending → completed / failed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374151"/>
                </a:solidFill>
              </a:rPr>
              <a:t>Reçu détaillé envoyé par e-mail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43400"/>
            <a:ext cx="11185855" cy="16916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3D20"/>
                </a:solidFill>
                <a:latin typeface="Calibri"/>
              </a:rPr>
              <a:t>Pourquoi des paiements mobiles simulés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74151"/>
                </a:solidFill>
                <a:latin typeface="Calibri"/>
              </a:rPr>
              <a:t>Les API Orange Money / Moov / Wave exigent un contrat marchand et un agrégateur agréé. Le flux complet (choix de la méthode, enregistrement, statuts, validation à la livraison) est implémenté : brancher un agrégateur réel ne demandera aucune refonte.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2 •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Stack 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Frontend — SPA React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React 18 + Vite + Tailwind CSS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16 pages / 3 espaces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Leaflet (carte), Recharts (graphiques)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Routage protégé par rôle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6534"/>
                </a:solidFill>
              </a:rPr>
              <a:t>API REST — Express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Node.js + Express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9 modules de routes (/api/…)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Middleware JWT + contrôle des rôles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Validation systématique des entrées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78308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</a:rPr>
              <a:t>Données &amp; services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SQLite local / Turso en production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Cloudinary : images persistantes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SMTP : e-mails transactionnels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Google Identity : connexion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517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3D20"/>
                </a:solidFill>
                <a:latin typeface="Calibri"/>
              </a:rPr>
              <a:t>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6517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3D20"/>
                </a:solidFill>
                <a:latin typeface="Calibri"/>
              </a:rPr>
              <a:t>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26280"/>
            <a:ext cx="11185855" cy="15544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3D20"/>
                </a:solidFill>
                <a:latin typeface="Calibri"/>
              </a:rPr>
              <a:t>Fil conducteur des choix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74151"/>
                </a:solidFill>
                <a:latin typeface="Calibri"/>
              </a:rPr>
              <a:t>Une plateforme utilisable partout au Burkina Faso : web responsive (aucune installation), cartographie OpenStreetMap sans clé API, hébergement et base de données gratuits — coût d'infrastructure : 0 F CFA.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2 •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Sécurité : un durcissement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Authentification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JWT HS256, secret fort obligatoire en production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bcrypt 12 rounds + politique de mot de passe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Anti-énumération de comptes (temps constant)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Réinitialisation : token 256 bits haché, 1 h, usage unique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6534"/>
                </a:solidFill>
              </a:rPr>
              <a:t>Protection de l'API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Helmet : en-têtes HTTP de sécurité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Rate limiting : 300 req/15 min, 20 sur l'auth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CORS restreint, payload JSON limité à 100 ko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express-validator sur toutes les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</a:rPr>
              <a:t>Données &amp; uploads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Transactions atomiques sur le stock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Uploads : extension + type MIME vérifiés, 5 Mo max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Noms de fichiers aléatoires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Erreurs internes jamais exposées au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Persistance des données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Base répliquée et persistante sur Turso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Images persistantes sur Cloudinary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Secrets en variables d'environnement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374151"/>
                </a:solidFill>
              </a:rPr>
              <a:t>Un crash ou redéploiement ne perd aucune donnée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2 •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Déploiement continu, coût : 0 F 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1. GitHub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git push sur la branche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2. Render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build Docker automatique (render.yaml)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3. En ligne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74151"/>
                </a:solidFill>
              </a:rPr>
              <a:t>https://marketbf.onrender.com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166534"/>
                </a:solidFill>
              </a:rPr>
              <a:t>•  </a:t>
            </a:r>
            <a:r>
              <a:rPr sz="1450" b="1">
                <a:solidFill>
                  <a:srgbClr val="0E3D20"/>
                </a:solidFill>
              </a:rPr>
              <a:t>Docker — </a:t>
            </a:r>
            <a:r>
              <a:rPr sz="1450">
                <a:solidFill>
                  <a:srgbClr val="374151"/>
                </a:solidFill>
              </a:rPr>
              <a:t>build multi-étapes : build Vite du frontend puis image Node unique servant API + site (pas de CORS)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66534"/>
                </a:solidFill>
              </a:rPr>
              <a:t>•  </a:t>
            </a:r>
            <a:r>
              <a:rPr sz="1450" b="1">
                <a:solidFill>
                  <a:srgbClr val="0E3D20"/>
                </a:solidFill>
              </a:rPr>
              <a:t>Turso — </a:t>
            </a:r>
            <a:r>
              <a:rPr sz="1450">
                <a:solidFill>
                  <a:srgbClr val="374151"/>
                </a:solidFill>
              </a:rPr>
              <a:t>base SQLite hébergée — comptes, produits et commandes survivent aux redémarrages du plan gratuit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66534"/>
                </a:solidFill>
              </a:rPr>
              <a:t>•  </a:t>
            </a:r>
            <a:r>
              <a:rPr sz="1450" b="1">
                <a:solidFill>
                  <a:srgbClr val="0E3D20"/>
                </a:solidFill>
              </a:rPr>
              <a:t>Cloudinary — </a:t>
            </a:r>
            <a:r>
              <a:rPr sz="1450">
                <a:solidFill>
                  <a:srgbClr val="374151"/>
                </a:solidFill>
              </a:rPr>
              <a:t>stockage persistant des images uploadées (photos produits, logos)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66534"/>
                </a:solidFill>
              </a:rPr>
              <a:t>•  </a:t>
            </a:r>
            <a:r>
              <a:rPr sz="1450" b="1">
                <a:solidFill>
                  <a:srgbClr val="0E3D20"/>
                </a:solidFill>
              </a:rPr>
              <a:t>Secrets — </a:t>
            </a:r>
            <a:r>
              <a:rPr sz="1450">
                <a:solidFill>
                  <a:srgbClr val="374151"/>
                </a:solidFill>
              </a:rPr>
              <a:t>JWT, SMTP, OAuth Google en variables d'environnement Render — jamais dans le code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66534"/>
                </a:solidFill>
              </a:rPr>
              <a:t>•  </a:t>
            </a:r>
            <a:r>
              <a:rPr sz="1450" b="1">
                <a:solidFill>
                  <a:srgbClr val="0E3D20"/>
                </a:solidFill>
              </a:rPr>
              <a:t>Local — </a:t>
            </a:r>
            <a:r>
              <a:rPr sz="1450">
                <a:solidFill>
                  <a:srgbClr val="374151"/>
                </a:solidFill>
              </a:rPr>
              <a:t>./start.sh ou docker-compose up : SQLite et dossier uploads locaux, aucun service externe requis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PARTIE 2 • 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Démonstration en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66534"/>
                </a:solidFill>
              </a:rPr>
              <a:t>•  </a:t>
            </a:r>
            <a:r>
              <a:rPr sz="1700" b="1">
                <a:solidFill>
                  <a:srgbClr val="0E3D20"/>
                </a:solidFill>
              </a:rPr>
              <a:t>Client — </a:t>
            </a:r>
            <a:r>
              <a:rPr sz="1700">
                <a:solidFill>
                  <a:srgbClr val="374151"/>
                </a:solidFill>
              </a:rPr>
              <a:t>recherche un produit, consulte la carte, commande avec Orange Money → reçu par e-mail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66534"/>
                </a:solidFill>
              </a:rPr>
              <a:t>•  </a:t>
            </a:r>
            <a:r>
              <a:rPr sz="1700" b="1">
                <a:solidFill>
                  <a:srgbClr val="0E3D20"/>
                </a:solidFill>
              </a:rPr>
              <a:t>Commerçant — </a:t>
            </a:r>
            <a:r>
              <a:rPr sz="1700">
                <a:solidFill>
                  <a:srgbClr val="374151"/>
                </a:solidFill>
              </a:rPr>
              <a:t>voit la commande arriver, la confirme puis la marque livrée → stock décrémenté, alerte si seuil atteint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66534"/>
                </a:solidFill>
              </a:rPr>
              <a:t>•  </a:t>
            </a:r>
            <a:r>
              <a:rPr sz="1700" b="1">
                <a:solidFill>
                  <a:srgbClr val="0E3D20"/>
                </a:solidFill>
              </a:rPr>
              <a:t>Administrateur — </a:t>
            </a:r>
            <a:r>
              <a:rPr sz="1700">
                <a:solidFill>
                  <a:srgbClr val="374151"/>
                </a:solidFill>
              </a:rPr>
              <a:t>valide une boutique en attente → elle devient visible dans le catalogue et sur la carte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60520"/>
            <a:ext cx="11185855" cy="1828800"/>
          </a:xfrm>
          <a:prstGeom prst="rect">
            <a:avLst/>
          </a:prstGeom>
          <a:solidFill>
            <a:srgbClr val="0E3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  <a:latin typeface="Calibri"/>
              </a:rPr>
              <a:t>https://marketbf.onrender.com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Comptes de démonstration :  admin@marketbf.com / Admin123!   •   merchant1@marketbf.com / Merchant1!   •   client@marketbf.com / Client123!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  <a:latin typeface="Calibri"/>
              </a:rPr>
              <a:t>Astuce plan gratuit : ouvrir le site 2 minutes avant la soutenance (réveil du service ~1 min).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457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3D20"/>
                </a:solidFill>
                <a:latin typeface="Calibri"/>
              </a:rPr>
              <a:t>Bilan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Market BF — Soutenance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3D20"/>
                </a:solidFill>
              </a:rPr>
              <a:t>Ce qui est livré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Une plateforme complète et en production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3 espaces fonctionnels : client, commerçant, admin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Chaîne complète : recherche → commande → livraison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Données persistantes, sécurité durcie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Coût d'infrastructure : 0 F CFA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6534"/>
                </a:solidFill>
              </a:rPr>
              <a:t>Les prochaines étapes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Paiements mobiles réels via un agrégateur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Factures PDF téléchargeables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Module de livraison intégré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Application mobile (PWA / React Native)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74151"/>
                </a:solidFill>
              </a:rPr>
              <a:t>Recommandations par IA, fidélité, wallet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3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Merci de votre attention — place à vos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807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0B429"/>
                </a:solidFill>
                <a:latin typeface="Calibri"/>
              </a:rPr>
              <a:t>Market BF  •  https://marketbf.onrender.com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